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164592" cy="228600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Pedidos SAE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8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Concejo Escolar de Azul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361188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6118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Validación ·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0" y="4389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 resuelve?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3749040" cy="3611880"/>
          </a:xfrm>
          <a:prstGeom prst="rect">
            <a:avLst/>
          </a:prstGeom>
          <a:solidFill>
            <a:srgbClr val="FDECEA"/>
          </a:solidFill>
          <a:ln w="12700">
            <a:solidFill>
              <a:srgbClr val="E8BCB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85800"/>
            <a:ext cx="37490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85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344168"/>
            <a:ext cx="292608" cy="2926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3258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Planillas Excel manuales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057400"/>
            <a:ext cx="292608" cy="2926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03911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frecuentes en cálculos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770632"/>
            <a:ext cx="292608" cy="2926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275234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perdido coordinando datos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483864"/>
            <a:ext cx="292608" cy="2926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83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46557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inconsistentes entre semanas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20640" y="685800"/>
            <a:ext cx="3749040" cy="361188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20640" y="685800"/>
            <a:ext cx="374904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685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03520" y="1344168"/>
            <a:ext cx="292608" cy="29260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0" y="13258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4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automático de cantidades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03520" y="2057400"/>
            <a:ext cx="292608" cy="29260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0" y="203911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4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listos para enviar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03520" y="2770632"/>
            <a:ext cx="292608" cy="29260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69280" y="275234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4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centralizado de pedidos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303520" y="3483864"/>
            <a:ext cx="292608" cy="29260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3483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0" y="346557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4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proveedores por localidad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178808" y="2331720"/>
            <a:ext cx="82296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78808" y="23317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¿Quiénes usan el sistema?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3749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13232"/>
            <a:ext cx="374904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13816"/>
            <a:ext cx="457200" cy="457200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13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71323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1517904"/>
            <a:ext cx="237744" cy="23774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17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·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49961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usuarios del sistema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084832"/>
            <a:ext cx="237744" cy="23774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84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06654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ingredientes y recetas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51760"/>
            <a:ext cx="237744" cy="23774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51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·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63347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 proveedores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218688"/>
            <a:ext cx="237744" cy="23774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18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·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2004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menús por temporada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785616"/>
            <a:ext cx="237744" cy="23774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856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·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76732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hacer todo lo del Gestor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713232"/>
            <a:ext cx="3749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20640" y="713232"/>
            <a:ext cx="374904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0" y="813816"/>
            <a:ext cx="457200" cy="457200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813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852160" y="71323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303520" y="1517904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1517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·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23560" y="149961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escuelas y matrícula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303520" y="2084832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2084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·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23560" y="206654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altas y bajas de alumnos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03520" y="265176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2651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·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23560" y="263347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órdenes de compra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303520" y="3218688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0" y="3218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·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623560" y="32004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historial de pedidos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303520" y="3785616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0" y="37856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·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623560" y="376732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operativo del día a día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base del sistema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58368"/>
            <a:ext cx="73152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832104"/>
            <a:ext cx="402336" cy="40233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832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7040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Localidades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1042416"/>
            <a:ext cx="7726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Localidades del partido de Azul donde hay escuelas (Azul, Cacharí, Chillar, etc.)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48132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481328"/>
            <a:ext cx="73152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1655064"/>
            <a:ext cx="402336" cy="40233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655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152704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1865376"/>
            <a:ext cx="7726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ingrediente con su nombre y unidad de medida (g, ml, kg, litros, unidades…)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30428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304288"/>
            <a:ext cx="73152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2478024"/>
            <a:ext cx="402336" cy="40233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478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" y="23500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2688336"/>
            <a:ext cx="7726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teléfono y email de contacto. Cambian aprox. cada 2 meses con nuevas licitaciones.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12724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127248"/>
            <a:ext cx="73152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3300984"/>
            <a:ext cx="402336" cy="40233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300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87552" y="31729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Asignación: proveedor / ingrediente / localidad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" y="3511296"/>
            <a:ext cx="7726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provee cada ingrediente en cada localidad, con precio unitario e historial de licitaciones.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95020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950208"/>
            <a:ext cx="73152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" y="4123944"/>
            <a:ext cx="402336" cy="40233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123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87552" y="39959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7552" y="4334256"/>
            <a:ext cx="7726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tipo de comida (D/A/M) y lista de ingredientes con cantidad por porción estándar.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Menús semanales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3703320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749808"/>
            <a:ext cx="352044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498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 VERANO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3337560" cy="502920"/>
          </a:xfrm>
          <a:prstGeom prst="rect">
            <a:avLst/>
          </a:prstGeom>
          <a:solidFill>
            <a:srgbClr val="F4F8FB"/>
          </a:solidFill>
          <a:ln w="12700">
            <a:solidFill>
              <a:srgbClr val="C0D8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408176"/>
            <a:ext cx="274320" cy="2743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3167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1 — Semana 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956816"/>
            <a:ext cx="3337560" cy="502920"/>
          </a:xfrm>
          <a:prstGeom prst="rect">
            <a:avLst/>
          </a:prstGeom>
          <a:solidFill>
            <a:srgbClr val="F4F8FB"/>
          </a:solidFill>
          <a:ln w="12700">
            <a:solidFill>
              <a:srgbClr val="C0D8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066544"/>
            <a:ext cx="274320" cy="2743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19751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2 — Semana 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761488"/>
            <a:ext cx="3520440" cy="4572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6148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  INVIERNO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310128"/>
            <a:ext cx="3337560" cy="502920"/>
          </a:xfrm>
          <a:prstGeom prst="rect">
            <a:avLst/>
          </a:prstGeom>
          <a:solidFill>
            <a:srgbClr val="F4F8FB"/>
          </a:solidFill>
          <a:ln w="12700">
            <a:solidFill>
              <a:srgbClr val="C0D8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419856"/>
            <a:ext cx="274320" cy="27432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332841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1 — Semana 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968496"/>
            <a:ext cx="3337560" cy="502920"/>
          </a:xfrm>
          <a:prstGeom prst="rect">
            <a:avLst/>
          </a:prstGeom>
          <a:solidFill>
            <a:srgbClr val="F4F8FB"/>
          </a:solidFill>
          <a:ln w="12700">
            <a:solidFill>
              <a:srgbClr val="C0D8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4078224"/>
            <a:ext cx="274320" cy="27432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398678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2 — Semana 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06240" y="658368"/>
            <a:ext cx="4617720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97680" y="713232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cada menú semanal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84648" y="1417320"/>
            <a:ext cx="804672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84648" y="141732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89320" y="1417320"/>
            <a:ext cx="804672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141732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93992" y="1417320"/>
            <a:ext cx="804672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93992" y="141732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Miérc.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598664" y="1417320"/>
            <a:ext cx="804672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98664" y="141732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Jueves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403336" y="1417320"/>
            <a:ext cx="804672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03336" y="141732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43400" y="1801368"/>
            <a:ext cx="841248" cy="6126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3400" y="1801368"/>
            <a:ext cx="841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Desayuno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184648" y="1801368"/>
            <a:ext cx="804672" cy="612648"/>
          </a:xfrm>
          <a:prstGeom prst="rect">
            <a:avLst/>
          </a:prstGeom>
          <a:solidFill>
            <a:srgbClr val="EFF7FB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84648" y="1801368"/>
            <a:ext cx="804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989320" y="1801368"/>
            <a:ext cx="804672" cy="612648"/>
          </a:xfrm>
          <a:prstGeom prst="rect">
            <a:avLst/>
          </a:prstGeom>
          <a:solidFill>
            <a:srgbClr val="EFF7FB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89320" y="1801368"/>
            <a:ext cx="804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793992" y="1801368"/>
            <a:ext cx="804672" cy="612648"/>
          </a:xfrm>
          <a:prstGeom prst="rect">
            <a:avLst/>
          </a:prstGeom>
          <a:solidFill>
            <a:srgbClr val="EFF7FB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93992" y="1801368"/>
            <a:ext cx="804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598664" y="1801368"/>
            <a:ext cx="804672" cy="612648"/>
          </a:xfrm>
          <a:prstGeom prst="rect">
            <a:avLst/>
          </a:prstGeom>
          <a:solidFill>
            <a:srgbClr val="EFF7FB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98664" y="1801368"/>
            <a:ext cx="804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403336" y="1801368"/>
            <a:ext cx="804672" cy="612648"/>
          </a:xfrm>
          <a:prstGeom prst="rect">
            <a:avLst/>
          </a:prstGeom>
          <a:solidFill>
            <a:srgbClr val="EFF7FB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03336" y="1801368"/>
            <a:ext cx="804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343400" y="2459736"/>
            <a:ext cx="841248" cy="6126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43400" y="2459736"/>
            <a:ext cx="841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Almuerzo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184648" y="2459736"/>
            <a:ext cx="804672" cy="612648"/>
          </a:xfrm>
          <a:prstGeom prst="rect">
            <a:avLst/>
          </a:prstGeom>
          <a:solidFill>
            <a:srgbClr val="F8FBFD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84648" y="2459736"/>
            <a:ext cx="804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989320" y="2459736"/>
            <a:ext cx="804672" cy="612648"/>
          </a:xfrm>
          <a:prstGeom prst="rect">
            <a:avLst/>
          </a:prstGeom>
          <a:solidFill>
            <a:srgbClr val="F8FBFD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89320" y="2459736"/>
            <a:ext cx="804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793992" y="2459736"/>
            <a:ext cx="804672" cy="612648"/>
          </a:xfrm>
          <a:prstGeom prst="rect">
            <a:avLst/>
          </a:prstGeom>
          <a:solidFill>
            <a:srgbClr val="F8FBFD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93992" y="2459736"/>
            <a:ext cx="804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598664" y="2459736"/>
            <a:ext cx="804672" cy="612648"/>
          </a:xfrm>
          <a:prstGeom prst="rect">
            <a:avLst/>
          </a:prstGeom>
          <a:solidFill>
            <a:srgbClr val="F8FBFD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98664" y="2459736"/>
            <a:ext cx="804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403336" y="2459736"/>
            <a:ext cx="804672" cy="612648"/>
          </a:xfrm>
          <a:prstGeom prst="rect">
            <a:avLst/>
          </a:prstGeom>
          <a:solidFill>
            <a:srgbClr val="F8FBFD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03336" y="2459736"/>
            <a:ext cx="804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343400" y="3118104"/>
            <a:ext cx="841248" cy="612648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43400" y="3118104"/>
            <a:ext cx="841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Merienda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184648" y="3118104"/>
            <a:ext cx="804672" cy="612648"/>
          </a:xfrm>
          <a:prstGeom prst="rect">
            <a:avLst/>
          </a:prstGeom>
          <a:solidFill>
            <a:srgbClr val="EFF7FB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84648" y="3118104"/>
            <a:ext cx="804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9320" y="3118104"/>
            <a:ext cx="804672" cy="612648"/>
          </a:xfrm>
          <a:prstGeom prst="rect">
            <a:avLst/>
          </a:prstGeom>
          <a:solidFill>
            <a:srgbClr val="EFF7FB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89320" y="3118104"/>
            <a:ext cx="804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793992" y="3118104"/>
            <a:ext cx="804672" cy="612648"/>
          </a:xfrm>
          <a:prstGeom prst="rect">
            <a:avLst/>
          </a:prstGeom>
          <a:solidFill>
            <a:srgbClr val="EFF7FB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93992" y="3118104"/>
            <a:ext cx="804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598664" y="3118104"/>
            <a:ext cx="804672" cy="612648"/>
          </a:xfrm>
          <a:prstGeom prst="rect">
            <a:avLst/>
          </a:prstGeom>
          <a:solidFill>
            <a:srgbClr val="EFF7FB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98664" y="3118104"/>
            <a:ext cx="804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8403336" y="3118104"/>
            <a:ext cx="804672" cy="612648"/>
          </a:xfrm>
          <a:prstGeom prst="rect">
            <a:avLst/>
          </a:prstGeom>
          <a:solidFill>
            <a:srgbClr val="EFF7FB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03336" y="3118104"/>
            <a:ext cx="8046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297680" y="41605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Desayuno   A = Almuerzo   M = Merienda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566160" y="914400"/>
            <a:ext cx="2011680" cy="20116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566160" y="9144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🏫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64008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430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código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(ej: EP 14, EES 7)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097280"/>
            <a:ext cx="2468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097280"/>
            <a:ext cx="64008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143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Localidad dentro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partido de Azul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77440"/>
            <a:ext cx="64008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231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 total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 actualiza con altas/bajas)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377440"/>
            <a:ext cx="2468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2377440"/>
            <a:ext cx="64008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423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Comidas que ofrece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Desayuno / Almuerzo / Merienda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520440"/>
            <a:ext cx="8503920" cy="59436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639312"/>
            <a:ext cx="320040" cy="3200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39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54787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la matrícula completa recibe todas las comidas que esa escuela ofrece. No hay subdivisiones internas.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genera un pedido semanal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26517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2487168"/>
            <a:ext cx="265176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85039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50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85039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semana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la fecha de inicio (lunes) de la semana.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685800"/>
            <a:ext cx="26517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487168"/>
            <a:ext cx="265176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85039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850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77640" y="85039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opción de menú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1463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temporada + Opción 1 ó 2.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685800"/>
            <a:ext cx="26517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2487168"/>
            <a:ext cx="265176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5352" y="85039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850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0" y="85039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días hábiles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1463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toggles (Lun–Vie). Desactivar feriados, paros o suspensiones.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834640"/>
            <a:ext cx="26517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4636008"/>
            <a:ext cx="265176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" y="299923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7280" y="299923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stock previo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611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stock por escuela/ingrediente. Parte todo en cero.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2834640"/>
            <a:ext cx="26517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4636008"/>
            <a:ext cx="265176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64992" y="299923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977640" y="299923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cálculo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83280" y="3611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muestra resumen y advertencias si hay ingredientes sin proveedor.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80760" y="2834640"/>
            <a:ext cx="26517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4636008"/>
            <a:ext cx="265176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45352" y="299923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45352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858000" y="299923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archivos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63640" y="3611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Excel: orden por proveedor y resumen global interno.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cálculo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850392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68580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a pedir  =  (porción × matrícula × días hábiles)  −  stock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171907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resultado es negativo → se pide cero (nunca un número negativo).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103120"/>
            <a:ext cx="85039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103120"/>
            <a:ext cx="8503920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concreto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6517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14  ·  164 alumnos  ·  ofrece almuerzo  ·  4 días hábiles (viernes feriado)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Ingrediente: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309067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Pollo — 60 g por porción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52958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3529584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g × 164 alumnos × 4 días = 39.360 g = 39,36 kg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96849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declarado: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396849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434840"/>
            <a:ext cx="8229600" cy="32004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 pedir:  36,36 kg de pollo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generados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397764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85800"/>
            <a:ext cx="397764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85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ORDEN POR PROVEEDOR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35608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35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3990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Escuelas de su localidad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911096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110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8745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Cantidades por ingrediente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386584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865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3500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 consolidados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862072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62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✔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82549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unitario de referencia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33756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37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✔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33009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estimado del pedido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498848"/>
            <a:ext cx="804672" cy="292608"/>
          </a:xfrm>
          <a:prstGeom prst="roundRect">
            <a:avLst>
              <a:gd name="adj" fmla="val 1875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49884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463040" y="4498848"/>
            <a:ext cx="804672" cy="292608"/>
          </a:xfrm>
          <a:prstGeom prst="roundRect">
            <a:avLst>
              <a:gd name="adj" fmla="val 1875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63040" y="449884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documento por cada proveedor activo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685800"/>
            <a:ext cx="397764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685800"/>
            <a:ext cx="397764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685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RESUMEN GLOBAL INTERNO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83480" y="1435608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1435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✔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03520" y="13990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ingredientes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83480" y="1911096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19110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✔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03520" y="18745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escuelas del partido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983480" y="2386584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23865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03520" y="23500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Cantidades totales por ingrediente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983480" y="2862072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2862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✔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03520" y="282549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unitarios por localidad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983480" y="333756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3337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✔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03520" y="33009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total estimado de la semana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983480" y="4498848"/>
            <a:ext cx="804672" cy="292608"/>
          </a:xfrm>
          <a:prstGeom prst="roundRect">
            <a:avLst>
              <a:gd name="adj" fmla="val 1875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449884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943600" y="4498848"/>
            <a:ext cx="804672" cy="292608"/>
          </a:xfrm>
          <a:prstGeom prst="roundRect">
            <a:avLst>
              <a:gd name="adj" fmla="val 1875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0" y="449884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37760" y="48280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registro interno del Concejo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sistema NO hace — Alcance inicial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160520" cy="1188720"/>
          </a:xfrm>
          <a:prstGeom prst="rect">
            <a:avLst/>
          </a:prstGeom>
          <a:solidFill>
            <a:srgbClr val="FFF5F4"/>
          </a:solidFill>
          <a:ln w="12700">
            <a:solidFill>
              <a:srgbClr val="F5C6C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69848"/>
            <a:ext cx="411480" cy="411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9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8408" y="9144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controla stock en tiempo real — se ingresa manualmente al generar el pedido.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2121408"/>
            <a:ext cx="4160520" cy="1188720"/>
          </a:xfrm>
          <a:prstGeom prst="rect">
            <a:avLst/>
          </a:prstGeom>
          <a:solidFill>
            <a:srgbClr val="FFF5F4"/>
          </a:solidFill>
          <a:ln w="12700">
            <a:solidFill>
              <a:srgbClr val="F5C6C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441448"/>
            <a:ext cx="411480" cy="411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41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78408" y="22860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gestiona entregas ni logística — solo emite las órdenes de compra.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493008"/>
            <a:ext cx="4160520" cy="1188720"/>
          </a:xfrm>
          <a:prstGeom prst="rect">
            <a:avLst/>
          </a:prstGeom>
          <a:solidFill>
            <a:srgbClr val="FFF5F4"/>
          </a:solidFill>
          <a:ln w="12700">
            <a:solidFill>
              <a:srgbClr val="F5C6C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813048"/>
            <a:ext cx="411480" cy="411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813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8408" y="36576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gestiona facturas ni pagos a proveedores.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749808"/>
            <a:ext cx="4160520" cy="1188720"/>
          </a:xfrm>
          <a:prstGeom prst="rect">
            <a:avLst/>
          </a:prstGeom>
          <a:solidFill>
            <a:srgbClr val="FFF5F4"/>
          </a:solidFill>
          <a:ln w="12700">
            <a:solidFill>
              <a:srgbClr val="F5C6C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1069848"/>
            <a:ext cx="411480" cy="411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069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13248" y="9144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distingue porciones por grupo etario — usa porción estándar promedio.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2121408"/>
            <a:ext cx="4160520" cy="1188720"/>
          </a:xfrm>
          <a:prstGeom prst="rect">
            <a:avLst/>
          </a:prstGeom>
          <a:solidFill>
            <a:srgbClr val="FFF5F4"/>
          </a:solidFill>
          <a:ln w="12700">
            <a:solidFill>
              <a:srgbClr val="F5C6C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441448"/>
            <a:ext cx="411480" cy="411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441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13248" y="22860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calcula información nutricional (calorías, macros, etc.).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3493008"/>
            <a:ext cx="4160520" cy="1188720"/>
          </a:xfrm>
          <a:prstGeom prst="rect">
            <a:avLst/>
          </a:prstGeom>
          <a:solidFill>
            <a:srgbClr val="FFF5F4"/>
          </a:solidFill>
          <a:ln w="12700">
            <a:solidFill>
              <a:srgbClr val="F5C6C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813048"/>
            <a:ext cx="411480" cy="411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813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13248" y="36576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envía emails automáticos a proveedores — la descarga y el envío son manuales.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a validar con el Concejo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96012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dos roles (Administrador / Gestor) cubren bien las necesidades operativas?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173736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correcto que cada ingrediente + localidad tenga un único proveedor activo a la vez?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60604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251460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 bien usar una única porción estándar (9-11 años) para todas las recetas?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329184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¿Siempre son exactamente 2 opciones de menú por temporada?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16052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406908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elige qué opción aplica cada semana? ¿Alternancia fija o elección del gestor?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05156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93208" y="96012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¿Hace falta guardar historial de matrícula o solo el valor actual alcanza?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18288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93208" y="173736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¿Alguna de las exclusiones del alcance debería incluirse en esta versión?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260604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93208" y="251460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algún reporte adicional que el Concejo necesite más allá de los generados?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338328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93208" y="329184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localidades y escuelas aproximadamente va a manejar el sistema?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17720" y="416052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93208" y="406908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 qué frecuencia cambia la matrícula? ¿Y los proveedores (confirmamos cada 2 meses)?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>
                <a:alpha val="6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35331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14300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del documento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554480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Concejo Escolar lee el documento de validación y responde las preguntas pendientes.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8046720" cy="1005840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>
                <a:alpha val="6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54203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33172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de validación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2743200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discuten los ajustes finales y se da el visto bueno al alcance del sistema.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8046720" cy="1005840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>
                <a:alpha val="6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73075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52044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del desarrollo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3931920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Comenzamos con la infraestructura base: usuarios, localidades, ingredientes y proveedores.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E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Concejo Escolar de Azul · SAE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de Pedidos SAE — Validación</dc:title>
  <dc:subject>PptxGenJS Presentation</dc:subject>
  <dc:creator>Concejo Escolar de Azul</dc:creator>
  <cp:lastModifiedBy>Concejo Escolar de Azul</cp:lastModifiedBy>
  <cp:revision>1</cp:revision>
  <dcterms:created xsi:type="dcterms:W3CDTF">2026-04-08T20:53:16Z</dcterms:created>
  <dcterms:modified xsi:type="dcterms:W3CDTF">2026-04-08T20:53:16Z</dcterms:modified>
</cp:coreProperties>
</file>